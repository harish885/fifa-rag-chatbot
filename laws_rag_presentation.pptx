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3" d="100"/>
          <a:sy n="103" d="100"/>
        </p:scale>
        <p:origin x="36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BM25 + expansion (prod)</c:v>
                </c:pt>
              </c:strCache>
            </c:strRef>
          </c:tx>
          <c:spPr>
            <a:solidFill>
              <a:srgbClr val="1B4332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Recall@1</c:v>
                </c:pt>
                <c:pt idx="1">
                  <c:v>Recall@3</c:v>
                </c:pt>
                <c:pt idx="2">
                  <c:v>Recall@5</c:v>
                </c:pt>
                <c:pt idx="3">
                  <c:v>MRR@5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0.7</c:v>
                </c:pt>
                <c:pt idx="2">
                  <c:v>0.8</c:v>
                </c:pt>
                <c:pt idx="3">
                  <c:v>0.56000000000000005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49-4AF8-9106-1D8CE8379E3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BM25 plain (ablation)</c:v>
                </c:pt>
              </c:strCache>
            </c:strRef>
          </c:tx>
          <c:spPr>
            <a:solidFill>
              <a:srgbClr val="2D6A4F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Recall@1</c:v>
                </c:pt>
                <c:pt idx="1">
                  <c:v>Recall@3</c:v>
                </c:pt>
                <c:pt idx="2">
                  <c:v>Recall@5</c:v>
                </c:pt>
                <c:pt idx="3">
                  <c:v>MRR@5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</c:v>
                </c:pt>
                <c:pt idx="1">
                  <c:v>0.65</c:v>
                </c:pt>
                <c:pt idx="2">
                  <c:v>0.7</c:v>
                </c:pt>
                <c:pt idx="3">
                  <c:v>0.52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49-4AF8-9106-1D8CE8379E3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TF-IDF (baseline)</c:v>
                </c:pt>
              </c:strCache>
            </c:strRef>
          </c:tx>
          <c:spPr>
            <a:solidFill>
              <a:srgbClr val="A9C5B4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Recall@1</c:v>
                </c:pt>
                <c:pt idx="1">
                  <c:v>Recall@3</c:v>
                </c:pt>
                <c:pt idx="2">
                  <c:v>Recall@5</c:v>
                </c:pt>
                <c:pt idx="3">
                  <c:v>MRR@5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0.45</c:v>
                </c:pt>
                <c:pt idx="1">
                  <c:v>0.65</c:v>
                </c:pt>
                <c:pt idx="2">
                  <c:v>0.65</c:v>
                </c:pt>
                <c:pt idx="3">
                  <c:v>0.53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749-4AF8-9106-1D8CE8379E3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Random (floor)</c:v>
                </c:pt>
              </c:strCache>
            </c:strRef>
          </c:tx>
          <c:spPr>
            <a:solidFill>
              <a:srgbClr val="D5CDBE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Recall@1</c:v>
                </c:pt>
                <c:pt idx="1">
                  <c:v>Recall@3</c:v>
                </c:pt>
                <c:pt idx="2">
                  <c:v>Recall@5</c:v>
                </c:pt>
                <c:pt idx="3">
                  <c:v>MRR@5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</c:v>
                </c:pt>
                <c:pt idx="1">
                  <c:v>0.05</c:v>
                </c:pt>
                <c:pt idx="2">
                  <c:v>0.05</c:v>
                </c:pt>
                <c:pt idx="3">
                  <c:v>0.02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749-4AF8-9106-1D8CE8379E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F6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4EA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F6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1085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1463040"/>
            <a:ext cx="4206240" cy="4206240"/>
          </a:xfrm>
          <a:prstGeom prst="ellipse">
            <a:avLst/>
          </a:prstGeom>
          <a:ln w="1905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7543800" y="-594360"/>
            <a:ext cx="2468880" cy="2468880"/>
          </a:xfrm>
          <a:prstGeom prst="ellipse">
            <a:avLst/>
          </a:prstGeom>
          <a:ln w="1905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0" y="4069080"/>
            <a:ext cx="9144000" cy="0"/>
          </a:xfrm>
          <a:prstGeom prst="line">
            <a:avLst/>
          </a:prstGeom>
          <a:noFill/>
          <a:ln w="1905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Asking the Rulebook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02920" y="2057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RAG chatbot over the FIFA / IFAB Laws of the Game 2025/26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02920" y="2834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 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fifa-rag.vercel.app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Harish </a:t>
            </a:r>
            <a:r>
              <a:rPr lang="en-US" sz="1200" dirty="0" err="1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Bhavandla</a:t>
            </a: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Virginia Spolaore, </a:t>
            </a:r>
            <a:r>
              <a:rPr lang="en-US" sz="120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Eren Yon  </a:t>
            </a:r>
            <a:r>
              <a:rPr lang="en-US" sz="120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NLP with LLMs — Final Project  ·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Fans speak football — the Laws speak law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57200" y="126187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6A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230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94360" y="18288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in the official rulebook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91840" y="1188720"/>
            <a:ext cx="26060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3291840" y="126187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6A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429000" y="18288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+ glossary + VAR protocol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26060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6126480" y="126187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6A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277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263640" y="18288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page-tagged chunks after ingestion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6974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Goal. </a:t>
            </a:r>
            <a:r>
              <a:rPr lang="en-US" sz="140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natural-language rules questions grounded exclusively in the official document, with page citations so every claim is verifiable.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3832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NLP difficulty — the register gap.  </a:t>
            </a:r>
            <a:r>
              <a:rPr lang="en-US" sz="140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ask “What happens after a red card?”; the corpus says “sending-off offence”. “Stoppage time” is “additional time allowance”. Lexical search fails exactly where vocabulary diverges — this gap drives our design and our evaluation.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8508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RAG Chatbot  ·  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Architecture: lean RAG, zero-cost serving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— INGESTION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1344168"/>
            <a:ext cx="1828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230 pp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66928" y="1728216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2025/26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359152" y="1819656"/>
            <a:ext cx="457200" cy="0"/>
          </a:xfrm>
          <a:prstGeom prst="line">
            <a:avLst/>
          </a:prstGeom>
          <a:noFill/>
          <a:ln w="31750">
            <a:solidFill>
              <a:srgbClr val="2D6A4F"/>
            </a:solidFill>
            <a:prstDash val="solid"/>
            <a:tailEnd type="triangle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2889504" y="1344168"/>
            <a:ext cx="2103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2999232" y="14173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ingest.py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99232" y="1728216"/>
            <a:ext cx="1883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· ~1100-char chunks · 200 overlap · page tags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65776" y="1819656"/>
            <a:ext cx="457200" cy="0"/>
          </a:xfrm>
          <a:prstGeom prst="line">
            <a:avLst/>
          </a:prstGeom>
          <a:noFill/>
          <a:ln w="31750">
            <a:solidFill>
              <a:srgbClr val="2D6A4F"/>
            </a:solidFill>
            <a:prstDash val="solid"/>
            <a:tailEnd type="triangle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5596128" y="1344168"/>
            <a:ext cx="1828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5705856" y="14173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chunks.json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705856" y="1728216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 chunks shipped inside the function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— PER QUERY (Vercel serverless, FastAPI)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035808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566928" y="310896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66928" y="3419856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happens after a red card?”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340864" y="3630168"/>
            <a:ext cx="292608" cy="0"/>
          </a:xfrm>
          <a:prstGeom prst="line">
            <a:avLst/>
          </a:prstGeom>
          <a:noFill/>
          <a:ln w="31750">
            <a:solidFill>
              <a:srgbClr val="2D6A4F"/>
            </a:solidFill>
            <a:prstDash val="solid"/>
            <a:tailEnd type="triangle"/>
          </a:ln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2688336" y="3035808"/>
            <a:ext cx="1828800" cy="1188720"/>
          </a:xfrm>
          <a:prstGeom prst="rect">
            <a:avLst/>
          </a:prstGeom>
          <a:solidFill>
            <a:srgbClr val="2D6A4F"/>
          </a:solidFill>
          <a:ln w="12700">
            <a:solidFill>
              <a:srgbClr val="DDE5D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2798064" y="310896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expansion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798064" y="3419856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colloquial → official: red card → sending-off (16-entry map)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0" y="3630168"/>
            <a:ext cx="292608" cy="0"/>
          </a:xfrm>
          <a:prstGeom prst="line">
            <a:avLst/>
          </a:prstGeom>
          <a:noFill/>
          <a:ln w="31750">
            <a:solidFill>
              <a:srgbClr val="2D6A4F"/>
            </a:solidFill>
            <a:prstDash val="solid"/>
            <a:tailEnd type="triangle"/>
          </a:ln>
        </p:spPr>
        <p:txBody>
          <a:bodyPr/>
          <a:lstStyle/>
          <a:p>
            <a:endParaRPr lang="it-IT"/>
          </a:p>
        </p:txBody>
      </p:sp>
      <p:sp>
        <p:nvSpPr>
          <p:cNvPr id="24" name="Shape 22"/>
          <p:cNvSpPr/>
          <p:nvPr/>
        </p:nvSpPr>
        <p:spPr>
          <a:xfrm>
            <a:off x="4919472" y="3035808"/>
            <a:ext cx="1828800" cy="1188720"/>
          </a:xfrm>
          <a:prstGeom prst="rect">
            <a:avLst/>
          </a:prstGeom>
          <a:solidFill>
            <a:srgbClr val="2D6A4F"/>
          </a:solidFill>
          <a:ln w="12700">
            <a:solidFill>
              <a:srgbClr val="DDE5D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5029200" y="310896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top-5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29200" y="3419856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index, &lt;1 ms, built at cold start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03136" y="3630168"/>
            <a:ext cx="292608" cy="0"/>
          </a:xfrm>
          <a:prstGeom prst="line">
            <a:avLst/>
          </a:prstGeom>
          <a:noFill/>
          <a:ln w="31750">
            <a:solidFill>
              <a:srgbClr val="2D6A4F"/>
            </a:solidFill>
            <a:prstDash val="solid"/>
            <a:tailEnd type="triangle"/>
          </a:ln>
        </p:spPr>
        <p:txBody>
          <a:bodyPr/>
          <a:lstStyle/>
          <a:p>
            <a:endParaRPr lang="it-IT"/>
          </a:p>
        </p:txBody>
      </p:sp>
      <p:sp>
        <p:nvSpPr>
          <p:cNvPr id="28" name="Shape 26"/>
          <p:cNvSpPr/>
          <p:nvPr/>
        </p:nvSpPr>
        <p:spPr>
          <a:xfrm>
            <a:off x="7150608" y="3035808"/>
            <a:ext cx="1828800" cy="1188720"/>
          </a:xfrm>
          <a:prstGeom prst="rect">
            <a:avLst/>
          </a:prstGeom>
          <a:solidFill>
            <a:srgbClr val="1B4332"/>
          </a:solidFill>
          <a:ln w="12700">
            <a:solidFill>
              <a:srgbClr val="DDE5D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7260336" y="310896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8A5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Llama-3.1-8B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260336" y="3419856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free tier, ~800 tok/s — cited answer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8508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RAG Chatbot  ·  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decisions — why, not just what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0690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64008" cy="160020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Retrieval: BM25 + expansion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4416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terminology-dense rulebook → exact terms carry the signal. Fully interpretable scores made our error analysis possible. Index builds in &lt;50 ms at cold start, zero ML dependencies.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960120"/>
            <a:ext cx="40690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4709160" y="960120"/>
            <a:ext cx="64008" cy="160020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489204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Chunking: page-tagged, ~1100 chars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34416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≈ one rule subsection, so a single hit usually contains the full provision. Page tags give verifiable citations and double as free ground-truth labels for evaluation.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40690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64008" cy="160020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4008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Generation: Llama-3.1-8B on Groq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is retrieval, not generation — 8B suffices to paraphrase rule text. ~800 tok/s at $0. Prompt forbids answering outside context and requires page citations (hallucination guard).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2743200"/>
            <a:ext cx="40690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4709160" y="2743200"/>
            <a:ext cx="64008" cy="160020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89204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Vercel serverless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Python function + one HTML file. No DB, no vector store, free hosting. The 250 MB function limit is a real constraint that shaped the retrieval choice — a deliberate trade-off.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48508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RAG Chatbot  ·  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Alternatives considered — and rejected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64008" cy="1078992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58368" y="117043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retrieval (sentence-transformers + vector DB)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58368" y="1444752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paraphrase recall in principle, but: embedding model exceeds Vercel's function limit; a hosted vector DB adds cost, latency and ops for a 277-chunk corpus; dense scores are hard to debug.  </a:t>
            </a: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measured BM25 weakness (vocabulary mismatch) was fixable with a 16-entry synonym map instead — verified by ablation (+10 pts R@5).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2304288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457200" y="2304288"/>
            <a:ext cx="64008" cy="1078992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658368" y="237744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an LLM on the Laws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58368" y="26517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Expensive; freezes knowledge to one edition of the rules; no citations, so answers are unverifiable.  </a:t>
            </a: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swaps in the 2026/27 edition by re-running one ingestion script.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511296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64008" cy="1078992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58368" y="3584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generator model (70B)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8368" y="385876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latency and cost with no measurable benefit: our evaluation shows the bottleneck is retrieval, not generation.  </a:t>
            </a: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 + retrieved context already answers correctly when retrieval hits.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48508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RAG Chatbot  ·  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methodology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10896" cy="310896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70916" y="111099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labels. </a:t>
            </a:r>
            <a:r>
              <a:rPr lang="en-US" sz="12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natural-language questions hand-labelled with the official PDF page(s) containing the answer (eval/eval_set.json). Page tags from ingestion make labelling cheap and unambiguous.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310896" cy="310896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70916" y="184251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810512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Metrics. </a:t>
            </a:r>
            <a:r>
              <a:rPr lang="en-US" sz="12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= any top-k chunk lies on a gold page. We report Recall@1/3/5 and MRR@5. Recall@5 matters most: the generator reads the top-5 chunks, so the answer only needs to be somewhere in them.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310896" cy="310896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70916" y="257403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542032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systems. </a:t>
            </a:r>
            <a:r>
              <a:rPr lang="en-US" sz="12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(BM25 + expansion) · plain BM25 (ablation isolates expansion's contribution) · TF-IDF cosine (classical baseline) · random retrieval (sanity floor).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470916" y="330555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3273552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Qualitative. </a:t>
            </a:r>
            <a:r>
              <a:rPr lang="en-US" sz="12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inspection of every miss (error analysis); spot-checks that answers cite correct pages and that out-of-corpus questions (“who won the 2022 World Cup?”) are refused.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reproducible offline:  </a:t>
            </a:r>
            <a:r>
              <a:rPr lang="en-US" sz="1200" dirty="0">
                <a:solidFill>
                  <a:srgbClr val="2D6A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eval/evaluate.py</a:t>
            </a:r>
            <a:r>
              <a:rPr lang="en-US" sz="120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(&lt;5 s, no API key needed)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8508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RAG Chatbot  ·  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Results: 0.80 Recall@5 in production</a:t>
            </a:r>
            <a:endParaRPr lang="en-US" sz="27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65760" y="1051560"/>
          <a:ext cx="576072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6400800" y="1051560"/>
            <a:ext cx="2377440" cy="1371600"/>
          </a:xfrm>
          <a:prstGeom prst="rect">
            <a:avLst/>
          </a:prstGeom>
          <a:solidFill>
            <a:srgbClr val="1B4332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Text 2"/>
          <p:cNvSpPr/>
          <p:nvPr/>
        </p:nvSpPr>
        <p:spPr>
          <a:xfrm>
            <a:off x="6400800" y="1143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0.80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6537960" y="1874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5D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Recall@5, production (16× the random floor)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400800" y="26974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</a:t>
            </a:r>
            <a:r>
              <a:rPr lang="en-US" sz="110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expansion adds +10 pts R@5, +4 MRR, no regressions.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edges R@1 but loses at R@5 — BM25's length normalisation wins as k grows; production uses k = 5.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4526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Recall@1 = 0.00 — no visible bar.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57200" y="48508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RAG Chatbot  ·  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analysis → fix → measured gain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methodology loop that produced our main improvement: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011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594360" y="1435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Measure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17647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BM25: Recall@5 = 0.70. Six misses on 20 queries.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87168" y="2167128"/>
            <a:ext cx="128016" cy="0"/>
          </a:xfrm>
          <a:prstGeom prst="line">
            <a:avLst/>
          </a:prstGeom>
          <a:noFill/>
          <a:ln w="31750">
            <a:solidFill>
              <a:srgbClr val="2D6A4F"/>
            </a:solidFill>
            <a:prstDash val="solid"/>
            <a:tailEnd type="triangle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2633472" y="1325880"/>
            <a:ext cx="2011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2770632" y="1435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Diagnose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770632" y="17647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misses share one cause: vocabulary mismatch. “red card” vs “sending-off offence”, “how long” vs “duration”.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2167128"/>
            <a:ext cx="128016" cy="0"/>
          </a:xfrm>
          <a:prstGeom prst="line">
            <a:avLst/>
          </a:prstGeom>
          <a:noFill/>
          <a:ln w="31750">
            <a:solidFill>
              <a:srgbClr val="2D6A4F"/>
            </a:solidFill>
            <a:prstDash val="solid"/>
            <a:tailEnd type="triangle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4809744" y="1325880"/>
            <a:ext cx="20116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4946904" y="1435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Fix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946904" y="17647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16-entry query-expansion map taken from the document's own glossary — not from the eval set's wording.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39712" y="2167128"/>
            <a:ext cx="128016" cy="0"/>
          </a:xfrm>
          <a:prstGeom prst="line">
            <a:avLst/>
          </a:prstGeom>
          <a:noFill/>
          <a:ln w="31750">
            <a:solidFill>
              <a:srgbClr val="2D6A4F"/>
            </a:solidFill>
            <a:prstDash val="solid"/>
            <a:tailEnd type="triangle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6986016" y="1325880"/>
            <a:ext cx="2011680" cy="1691640"/>
          </a:xfrm>
          <a:prstGeom prst="rect">
            <a:avLst/>
          </a:prstGeom>
          <a:solidFill>
            <a:srgbClr val="1B4332"/>
          </a:solidFill>
          <a:ln w="12700">
            <a:solidFill>
              <a:srgbClr val="DDE5DC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7123176" y="1435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8A5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Re-measure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123176" y="17647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Recall@5 → 0.80, MRR → 0.56. Exactly the diagnosed queries flip to hits; nothing else changes.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4 misses — two identifiable causes: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36118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Front-matter collisions — </a:t>
            </a:r>
            <a:r>
              <a:rPr lang="en-US" sz="11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“Summary of Law changes” section repeats key terms densely enough to outrank the actual Law text.  </a:t>
            </a:r>
            <a:r>
              <a:rPr lang="en-US" sz="11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exclude front matter from the index.</a:t>
            </a:r>
            <a:endParaRPr lang="en-US" sz="1150" dirty="0"/>
          </a:p>
          <a:p>
            <a:pPr marL="0" indent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Low-information queries — </a:t>
            </a:r>
            <a:r>
              <a:rPr lang="en-US" sz="11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“When is a goal scored?” has two content words, both ubiquitous in this corpus.  </a:t>
            </a:r>
            <a:r>
              <a:rPr lang="en-US" sz="11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boost chunks containing Law headings.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48508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RAG Chatbot  ·  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limitations &amp; next steps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64008" cy="1463040"/>
          </a:xfrm>
          <a:prstGeom prst="rect">
            <a:avLst/>
          </a:prstGeom>
          <a:solidFill>
            <a:srgbClr val="D8A51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1234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set doubles as dev 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527048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gains are optimistic — we tuned on what we measure. Next: a held-out test set written by someone who hasn't seen the synonym map.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114300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4709160" y="1143000"/>
            <a:ext cx="64008" cy="1463040"/>
          </a:xfrm>
          <a:prstGeom prst="rect">
            <a:avLst/>
          </a:prstGeom>
          <a:solidFill>
            <a:srgbClr val="D8A51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4892040" y="1234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20, self-labelled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892040" y="1527048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sample; gold pages chosen by us. Next: grow the set, second annotator, agreement check.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64008" cy="1463040"/>
          </a:xfrm>
          <a:prstGeom prst="rect">
            <a:avLst/>
          </a:prstGeom>
          <a:solidFill>
            <a:srgbClr val="D8A51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40080" y="3017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Retrieval-only metrics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3310128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 whether the right page is retrieved, not final answer quality. Next: LLM-as-judge grading of answer faithfulness against gold pages.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2926080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4709160" y="2926080"/>
            <a:ext cx="64008" cy="1463040"/>
          </a:xfrm>
          <a:prstGeom prst="rect">
            <a:avLst/>
          </a:prstGeom>
          <a:solidFill>
            <a:srgbClr val="D8A51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892040" y="3017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corpus &amp; language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92040" y="3310128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English-only, one rulebook. The pipeline is corpus-agnostic: re-running ingest.py swaps the domain.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48508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the Game RAG Chatbot  ·  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60120"/>
            <a:ext cx="9144000" cy="0"/>
          </a:xfrm>
          <a:prstGeom prst="line">
            <a:avLst/>
          </a:prstGeom>
          <a:noFill/>
          <a:ln w="19050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Takeaways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constraint-driven design: free serverless deployment shaped a lexical-first retrieval choice — and the evaluation validated it.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register gap (colloquial vs legal football language) is the corpus's core difficulty; a glossary-derived expansion map closed most of it (+10 pts Recall@5, verified by ablation).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is grounded and page-cited; out-of-corpus questions are refused.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is reproducible: ingest → index → evaluate → deploy, all in the repo.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D8A5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fifa-rag.vercel.app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</a:t>
            </a:r>
            <a:r>
              <a:rPr lang="en-US" sz="1300" b="1" dirty="0">
                <a:solidFill>
                  <a:srgbClr val="D8A5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</a:t>
            </a:r>
            <a:r>
              <a:rPr lang="it-IT" sz="1400" dirty="0">
                <a:solidFill>
                  <a:schemeClr val="bg1"/>
                </a:solidFill>
              </a:rPr>
              <a:t>github.com/harish885/fifa-rag-chatbot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02920" y="4343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F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usage: built with assistance from Claude (code scaffolding, debugging, slide drafting) — design choices, evaluation methodology and interpretation are our own. Full disclosure in README §7.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1312</Words>
  <Application>Microsoft Office PowerPoint</Application>
  <PresentationFormat>Presentazione su schermo (16:9)</PresentationFormat>
  <Paragraphs>111</Paragraphs>
  <Slides>10</Slides>
  <Notes>10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Laws of the Game RAG Chatbot</dc:title>
  <dc:subject>PptxGenJS Presentation</dc:subject>
  <dc:creator>Harish Bhavandla</dc:creator>
  <cp:lastModifiedBy>Virginia Spolaore</cp:lastModifiedBy>
  <cp:revision>2</cp:revision>
  <dcterms:created xsi:type="dcterms:W3CDTF">2026-06-12T11:02:12Z</dcterms:created>
  <dcterms:modified xsi:type="dcterms:W3CDTF">2026-06-13T16:38:01Z</dcterms:modified>
</cp:coreProperties>
</file>