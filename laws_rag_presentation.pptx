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BM25 + expansion (prod)</c:v>
                </c:pt>
              </c:strCache>
            </c:strRef>
          </c:tx>
          <c:spPr>
            <a:solidFill>
              <a:srgbClr val="1B43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Recall@1</c:v>
                  </c:pt>
                  <c:pt idx="1">
                    <c:v>Recall@3</c:v>
                  </c:pt>
                  <c:pt idx="2">
                    <c:v>Recall@5</c:v>
                  </c:pt>
                  <c:pt idx="3">
                    <c:v>MRR@5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0.7</c:v>
                </c:pt>
                <c:pt idx="2">
                  <c:v>0.8</c:v>
                </c:pt>
                <c:pt idx="3">
                  <c:v>0.56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BM25 plain (ablation)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Recall@1</c:v>
                  </c:pt>
                  <c:pt idx="1">
                    <c:v>Recall@3</c:v>
                  </c:pt>
                  <c:pt idx="2">
                    <c:v>Recall@5</c:v>
                  </c:pt>
                  <c:pt idx="3">
                    <c:v>MRR@5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0.65</c:v>
                </c:pt>
                <c:pt idx="2">
                  <c:v>0.7</c:v>
                </c:pt>
                <c:pt idx="3">
                  <c:v>0.52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TF-IDF (baseline)</c:v>
                </c:pt>
              </c:strCache>
            </c:strRef>
          </c:tx>
          <c:spPr>
            <a:solidFill>
              <a:srgbClr val="A9C5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Recall@1</c:v>
                  </c:pt>
                  <c:pt idx="1">
                    <c:v>Recall@3</c:v>
                  </c:pt>
                  <c:pt idx="2">
                    <c:v>Recall@5</c:v>
                  </c:pt>
                  <c:pt idx="3">
                    <c:v>MRR@5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0.45</c:v>
                </c:pt>
                <c:pt idx="1">
                  <c:v>0.65</c:v>
                </c:pt>
                <c:pt idx="2">
                  <c:v>0.65</c:v>
                </c:pt>
                <c:pt idx="3">
                  <c:v>0.53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Random (floor)</c:v>
                </c:pt>
              </c:strCache>
            </c:strRef>
          </c:tx>
          <c:spPr>
            <a:solidFill>
              <a:srgbClr val="D5CD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Recall@1</c:v>
                  </c:pt>
                  <c:pt idx="1">
                    <c:v>Recall@3</c:v>
                  </c:pt>
                  <c:pt idx="2">
                    <c:v>Recall@5</c:v>
                  </c:pt>
                  <c:pt idx="3">
                    <c:v>MRR@5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</c:v>
                </c:pt>
                <c:pt idx="1">
                  <c:v>0.05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F6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4E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F6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463040"/>
            <a:ext cx="4206240" cy="4206240"/>
          </a:xfrm>
          <a:prstGeom prst="ellipse">
            <a:avLst/>
          </a:prstGeom>
          <a:ln w="19050">
            <a:solidFill>
              <a:srgbClr val="2D6A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0" y="-594360"/>
            <a:ext cx="2468880" cy="2468880"/>
          </a:xfrm>
          <a:prstGeom prst="ellipse">
            <a:avLst/>
          </a:prstGeom>
          <a:ln w="19050">
            <a:solidFill>
              <a:srgbClr val="2D6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069080"/>
            <a:ext cx="9144000" cy="0"/>
          </a:xfrm>
          <a:prstGeom prst="line">
            <a:avLst/>
          </a:prstGeom>
          <a:noFill/>
          <a:ln w="1905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Asking the Rulebook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057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RAG chatbot over the FIFA / IFAB Laws of the Game 2025/26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fifa-rag.vercel.app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Bhavandla  ·  NLP with LLMs — Final Project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speak football — the Laws speak law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in the official rulebook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184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2900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+ glossary + VAR protocol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2648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26364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page-tagged chunks after ingestion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Goal. </a:t>
            </a:r>
            <a:pPr indent="0" marL="0">
              <a:buNone/>
            </a:pPr>
            <a:r>
              <a:rPr lang="en-US" sz="14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natural-language rules questions grounded exclusively in the official document, with page citations so every claim is verifiable.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NLP difficulty — the register gap.  </a:t>
            </a:r>
            <a:pPr indent="0" marL="0">
              <a:buNone/>
            </a:pPr>
            <a:r>
              <a:rPr lang="en-US" sz="14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“What happens after a red card?”; the corpus says “sending-off offence”. “Stoppage time” is “additional time allowance”. Lexical search fails exactly where vocabulary diverges — this gap drives our design and our evaluation.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lean RAG, zero-cost serving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— INGESTION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1828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230 pp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282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2025/26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59152" y="1819656"/>
            <a:ext cx="457200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89504" y="1344168"/>
            <a:ext cx="2103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99232" y="14173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9232" y="1728216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· ~1100-char chunks · 200 overlap · page tags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65776" y="1819656"/>
            <a:ext cx="457200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96128" y="1344168"/>
            <a:ext cx="1828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05856" y="14173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chunks.json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05856" y="17282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 chunks shipped inside the function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— PER QUERY (Vercel serverless, FastAPI)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happens after a red card?”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40864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688336" y="3035808"/>
            <a:ext cx="1828800" cy="1188720"/>
          </a:xfrm>
          <a:prstGeom prst="rect">
            <a:avLst/>
          </a:prstGeom>
          <a:solidFill>
            <a:srgbClr val="2D6A4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98064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798064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colloquial → official: red card → sending-off (16-entry map)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919472" y="3035808"/>
            <a:ext cx="1828800" cy="1188720"/>
          </a:xfrm>
          <a:prstGeom prst="rect">
            <a:avLst/>
          </a:prstGeom>
          <a:solidFill>
            <a:srgbClr val="2D6A4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029200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top-5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0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index, &lt;1 ms, built at cold start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03136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50608" y="3035808"/>
            <a:ext cx="1828800" cy="1188720"/>
          </a:xfrm>
          <a:prstGeom prst="rect">
            <a:avLst/>
          </a:prstGeom>
          <a:solidFill>
            <a:srgbClr val="1B4332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60336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Llama-3.1-8B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260336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free tier, ~800 tok/s — cited answer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decisions — why, not just what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Retrieval: BM25 + expansion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441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terminology-dense rulebook → exact terms carry the signal. Fully interpretable scores made our error analysis possible. Index builds in &lt;50 ms at cold start, zero ML dependencies.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09160" y="96012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Chunking: page-tagged, ~1100 chars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3441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≈ one rule subsection, so a single hit usually contains the full provision. Page tags give verifiable citations and double as free ground-truth labels for evaluation.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74320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Generation: Llama-3.1-8B on Groq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retrieval, not generation — 8B suffices to paraphrase rule text. ~800 tok/s at $0. Prompt forbids answering outside context and requires page citations (hallucination guard).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74320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74320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Vercel serverless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function + one HTML file. No DB, no vector store, free hosting. The 250 MB function limit is a real constraint that shaped the retrieval choice — a deliberate trade-off.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Alternatives considered — and rejected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1704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(sentence-transformers + vector DB)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paraphrase recall in principle, but: embedding model exceeds Vercel's function limit; a hosted vector DB adds cost, latency and ops for a 277-chunk corpus; dense scores are hard to debug.  </a:t>
            </a:r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measured BM25 weakness (vocabulary mismatch) was fixable with a 16-entry synonym map instead — verified by ablation (+10 pts R@5).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04288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37744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 LLM on the Laws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26517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Expensive; freezes knowledge to one edition of the rules; no citations, so answers are unverifiable.  </a:t>
            </a:r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swaps in the 2026/27 edition by re-running one ingestion script.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511296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584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generator model (70B)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385876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latency and cost with no measurable benefit: our evaluation shows the bottleneck is retrieval, not generation.  </a:t>
            </a:r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+ retrieved context already answers correctly when retrieval hits.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methodology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4" name="Text 2"/>
          <p:cNvSpPr/>
          <p:nvPr/>
        </p:nvSpPr>
        <p:spPr>
          <a:xfrm>
            <a:off x="470916" y="11109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labels. </a:t>
            </a:r>
            <a:pPr indent="0" marL="0">
              <a:buNone/>
            </a:pP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natural-language questions hand-labelled with the official PDF page(s) containing the answer (eval/eval_set.json). Page tags from ingestion make labelling cheap and unambiguous.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" y="184251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81051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Metrics. </a:t>
            </a:r>
            <a:pPr indent="0" marL="0">
              <a:buNone/>
            </a:pP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= any top-k chunk lies on a gold page. We report Recall@1/3/5 and MRR@5. Recall@5 matters most: the generator reads the top-5 chunks, so the answer only needs to be somewhere in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" y="257403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54203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systems. </a:t>
            </a:r>
            <a:pPr indent="0" marL="0">
              <a:buNone/>
            </a:pP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(BM25 + expansion) · plain BM25 (ablation isolates expansion's contribution) · TF-IDF cosine (classical baseline) · random retrieval (sanity floor).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" y="33055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27355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Qualitative. </a:t>
            </a:r>
            <a:pPr indent="0" marL="0">
              <a:buNone/>
            </a:pP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of every miss (error analysis); spot-checks that answers cite correct pages and that out-of-corpus questions (“who won the 2022 World Cup?”) are refused.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offline:  </a:t>
            </a:r>
            <a:pPr indent="0" marL="0">
              <a:buNone/>
            </a:pPr>
            <a:r>
              <a:rPr lang="en-US" sz="1200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eval/evaluate.py</a:t>
            </a:r>
            <a:pPr indent="0" marL="0">
              <a:buNone/>
            </a:pPr>
            <a:r>
              <a:rPr lang="en-US" sz="12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(&lt;5 s, no API key needed)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0.80 Recall@5 in production</a:t>
            </a:r>
            <a:endParaRPr lang="en-US" sz="27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7607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400800" y="1051560"/>
            <a:ext cx="2377440" cy="1371600"/>
          </a:xfrm>
          <a:prstGeom prst="rect">
            <a:avLst/>
          </a:prstGeom>
          <a:solidFill>
            <a:srgbClr val="1B4332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400800" y="1143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0.80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53796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Recall@5, production (16× the random floor)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0" y="2697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</a:t>
            </a:r>
            <a:pPr indent="0" marL="0">
              <a:buNone/>
            </a:pPr>
            <a:r>
              <a:rPr lang="en-US" sz="11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 adds +10 pts R@5, +4 MRR, no regressions.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edges R@1 but loses at R@5 — BM25's length normalisation wins as k grows; production uses k = 5.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Recall@1 = 0.00 — no visible bar.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 → fix → measured gain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loop that produced our main improvement: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Measure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BM25: Recall@5 = 0.70. Six misses on 20 queries.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87168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33472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Diagnose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770632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misses share one cause: vocabulary mismatch. “red card” vs “sending-off offence”, “how long” vs “duration”.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09744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46904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Fix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46904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16-entry query-expansion map taken from the document's own glossary — not from the eval set's wording.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39712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86016" y="1325880"/>
            <a:ext cx="2011680" cy="1691640"/>
          </a:xfrm>
          <a:prstGeom prst="rect">
            <a:avLst/>
          </a:prstGeom>
          <a:solidFill>
            <a:srgbClr val="1B4332"/>
          </a:solidFill>
          <a:ln w="12700">
            <a:solidFill>
              <a:srgbClr val="DDE5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23176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Re-measure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23176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Recall@5 → 0.80, MRR → 0.56. Exactly the diagnosed queries flip to hits; nothing else changes.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4 misses — two identifiable causes: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Front-matter collisions — </a:t>
            </a:r>
            <a:pPr indent="0" marL="0">
              <a:buNone/>
            </a:pPr>
            <a:r>
              <a:rPr lang="en-US" sz="11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“Summary of Law changes” section repeats key terms densely enough to outrank the actual Law text.  </a:t>
            </a:r>
            <a:pPr indent="0" marL="0">
              <a:buNone/>
            </a:pPr>
            <a:r>
              <a:rPr lang="en-US" sz="11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exclude front matter from the index.</a:t>
            </a:r>
            <a:endParaRPr lang="en-US" sz="11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Low-information queries — </a:t>
            </a:r>
            <a:pPr indent="0" marL="0">
              <a:buNone/>
            </a:pPr>
            <a:r>
              <a:rPr lang="en-US" sz="11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is a goal scored?” has two content words, both ubiquitous in this corpus.  </a:t>
            </a:r>
            <a:pPr indent="0" marL="0">
              <a:buNone/>
            </a:pPr>
            <a:r>
              <a:rPr lang="en-US" sz="11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boost chunks containing Law headings.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 &amp; next steps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set doubles as dev 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52704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gains are optimistic — we tuned on what we measure. Next: a held-out test set written by someone who hasn't seen the synonym map.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114300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20, self-labelled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92040" y="152704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sample; gold pages chosen by us. Next: grow the set, second annotator, agreement check.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92608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metrics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31012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whether the right page is retrieved, not final answer quality. Next: LLM-as-judge grading of answer faithfulness against gold pages.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9260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292608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corpus &amp; language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92040" y="331012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English-only, one rulebook. The pipeline is corpus-agnostic: re-running ingest.py swaps the domain.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60120"/>
            <a:ext cx="9144000" cy="0"/>
          </a:xfrm>
          <a:prstGeom prst="line">
            <a:avLst/>
          </a:prstGeom>
          <a:noFill/>
          <a:ln w="19050">
            <a:solidFill>
              <a:srgbClr val="2D6A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34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constraint-driven design: free serverless deployment shaped a lexical-first retrieval choice — and the evaluation validated 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 gap (colloquial vs legal football language) is the corpus's core difficulty; a glossary-derived expansion map closed most of it (+10 pts Recall@5, verified by ablation).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grounded and page-cited; out-of-corpus questions are refused.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is reproducible: ingest → index → evaluate → deploy, all in the repo.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fifa-rag.vercel.app      </a:t>
            </a:r>
            <a:pPr indent="0" marL="0">
              <a:buNone/>
            </a:pPr>
            <a:r>
              <a:rPr lang="en-US" sz="130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github.com/harishbhavandla/fifa-rag-chatbot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usage: built with assistance from Claude (code scaffolding, debugging, slide drafting) — design choices, evaluation methodology and interpretation are our own. Full disclosure in README §7.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Laws of the Game RAG Chatbot</dc:title>
  <dc:subject>PptxGenJS Presentation</dc:subject>
  <dc:creator>Harish Bhavandla</dc:creator>
  <cp:lastModifiedBy>Harish Bhavandla</cp:lastModifiedBy>
  <cp:revision>1</cp:revision>
  <dcterms:created xsi:type="dcterms:W3CDTF">2026-06-12T11:02:12Z</dcterms:created>
  <dcterms:modified xsi:type="dcterms:W3CDTF">2026-06-12T11:02:12Z</dcterms:modified>
</cp:coreProperties>
</file>