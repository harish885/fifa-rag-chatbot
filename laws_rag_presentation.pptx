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7"/>
    <p:sldId id="267" r:id="rId18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3" d="100"/>
          <a:sy n="103" d="100"/>
        </p:scale>
        <p:origin x="3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2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BM25 + expansion + dedup (prod)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hit@1</c:v>
                </c:pt>
                <c:pt idx="1">
                  <c:v>hit@3</c:v>
                </c:pt>
                <c:pt idx="2">
                  <c:v>hit@5</c:v>
                </c:pt>
                <c:pt idx="3">
                  <c:v>MRR@5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</c:v>
                </c:pt>
                <c:pt idx="1">
                  <c:v>0.6</c:v>
                </c:pt>
                <c:pt idx="2">
                  <c:v>0.75</c:v>
                </c:pt>
                <c:pt idx="3">
                  <c:v>0.55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49-4AF8-9106-1D8CE8379E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BM25 plain (no expansion)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hit@1</c:v>
                </c:pt>
                <c:pt idx="1">
                  <c:v>hit@3</c:v>
                </c:pt>
                <c:pt idx="2">
                  <c:v>hit@5</c:v>
                </c:pt>
                <c:pt idx="3">
                  <c:v>MRR@5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0.45</c:v>
                </c:pt>
                <c:pt idx="1">
                  <c:v>0.6</c:v>
                </c:pt>
                <c:pt idx="2">
                  <c:v>0.65</c:v>
                </c:pt>
                <c:pt idx="3">
                  <c:v>0.53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49-4AF8-9106-1D8CE8379E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TF-IDF (baseline)</c:v>
                </c:pt>
              </c:strCache>
            </c:strRef>
          </c:tx>
          <c:spPr>
            <a:solidFill>
              <a:srgbClr val="A9C5B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hit@1</c:v>
                </c:pt>
                <c:pt idx="1">
                  <c:v>hit@3</c:v>
                </c:pt>
                <c:pt idx="2">
                  <c:v>hit@5</c:v>
                </c:pt>
                <c:pt idx="3">
                  <c:v>MRR@5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0.3</c:v>
                </c:pt>
                <c:pt idx="1">
                  <c:v>0.5</c:v>
                </c:pt>
                <c:pt idx="2">
                  <c:v>0.55</c:v>
                </c:pt>
                <c:pt idx="3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749-4AF8-9106-1D8CE8379E3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Random (floor)</c:v>
                </c:pt>
              </c:strCache>
            </c:strRef>
          </c:tx>
          <c:spPr>
            <a:solidFill>
              <a:srgbClr val="D5CDB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hit@1</c:v>
                </c:pt>
                <c:pt idx="1">
                  <c:v>hit@3</c:v>
                </c:pt>
                <c:pt idx="2">
                  <c:v>hit@5</c:v>
                </c:pt>
                <c:pt idx="3">
                  <c:v>MRR@5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0.05</c:v>
                </c:pt>
                <c:pt idx="1">
                  <c:v>0.05</c:v>
                </c:pt>
                <c:pt idx="2">
                  <c:v>0.05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749-4AF8-9106-1D8CE8379E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F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4EA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F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1085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463040"/>
            <a:ext cx="4206240" cy="4206240"/>
          </a:xfrm>
          <a:prstGeom prst="ellipse">
            <a:avLst/>
          </a:prstGeom>
          <a:ln w="190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543800" y="-594360"/>
            <a:ext cx="2468880" cy="2468880"/>
          </a:xfrm>
          <a:prstGeom prst="ellipse">
            <a:avLst/>
          </a:prstGeom>
          <a:ln w="190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4069080"/>
            <a:ext cx="9144000" cy="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Asking the Rulebook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RAG chatbot over the FIFA / IFAB Laws of the Game 2025/26  ·  Educational — not affiliated with FIFA/IFAB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fifa-rag.vercel.app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Harish </a:t>
            </a:r>
            <a:r>
              <a:rPr lang="en-US" sz="1200" dirty="0" err="1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Bhavandla</a:t>
            </a: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Virginia Spolaore, </a:t>
            </a:r>
            <a:r>
              <a:rPr lang="en-US" sz="120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Eren Yon  </a:t>
            </a: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NLP with LLMs — Final Project  ·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Fans speak football — the Laws speak law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230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in the official rulebook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291840" y="12618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29000" y="1828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+ glossary + VAR protocol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126480" y="12618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263640" y="1828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from text pages 4–217 (not every PDF page)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Goal. Answer natural-language rules questions grounded only in the official document, with page citations you can check.</a:t>
            </a:r>
            <a:r>
              <a:rPr lang="en-US" sz="1400" dirty="0">
                <a:solidFill>
                  <a:srgbClr val="1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NLP difficulty — the register gap.  </a:t>
            </a:r>
            <a:r>
              <a:rPr lang="en-US" sz="1400" dirty="0">
                <a:solidFill>
                  <a:srgbClr val="1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ask “What happens after a red card?”; the corpus says “sending-off offence”. “Stoppage time” is “additional time allowance”. Lexical search fails exactly where vocabulary diverges — this gap drives our design and our evaluation.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508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of the Game RAG Chatbot  · 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Architecture: lean RAG, low-cost serving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— INGESTION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344168"/>
            <a:ext cx="1828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230 pp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1728216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of the Game 2025/26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59152" y="1819656"/>
            <a:ext cx="457200" cy="0"/>
          </a:xfrm>
          <a:prstGeom prst="line">
            <a:avLst/>
          </a:prstGeom>
          <a:noFill/>
          <a:ln w="31750">
            <a:solidFill>
              <a:srgbClr val="2D6A4F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2889504" y="1344168"/>
            <a:ext cx="2103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999232" y="141732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ingest.py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99232" y="1728216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· cleaned text · sentence-aware ~1100-char chunks · page tags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65776" y="1819656"/>
            <a:ext cx="457200" cy="0"/>
          </a:xfrm>
          <a:prstGeom prst="line">
            <a:avLst/>
          </a:prstGeom>
          <a:noFill/>
          <a:ln w="31750">
            <a:solidFill>
              <a:srgbClr val="2D6A4F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5596128" y="1344168"/>
            <a:ext cx="1828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705856" y="14173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chunks.json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705856" y="1728216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 chunks shipped inside the function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— PER QUERY (Vercel serverless, FastAPI)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35808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66928" y="310896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3419856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happens after a red card?”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40864" y="3630168"/>
            <a:ext cx="292608" cy="0"/>
          </a:xfrm>
          <a:prstGeom prst="line">
            <a:avLst/>
          </a:prstGeom>
          <a:noFill/>
          <a:ln w="31750">
            <a:solidFill>
              <a:srgbClr val="2D6A4F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2688336" y="3035808"/>
            <a:ext cx="1828800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DDE5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2798064" y="310896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expansion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798064" y="3419856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history-aware; colloquial → official (red card → sending-off), word-boundary map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630168"/>
            <a:ext cx="292608" cy="0"/>
          </a:xfrm>
          <a:prstGeom prst="line">
            <a:avLst/>
          </a:prstGeom>
          <a:noFill/>
          <a:ln w="31750">
            <a:solidFill>
              <a:srgbClr val="2D6A4F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4919472" y="3035808"/>
            <a:ext cx="1828800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DDE5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029200" y="310896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page-diverse top-5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0" y="3419856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index, built at cold start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3136" y="3630168"/>
            <a:ext cx="292608" cy="0"/>
          </a:xfrm>
          <a:prstGeom prst="line">
            <a:avLst/>
          </a:prstGeom>
          <a:noFill/>
          <a:ln w="31750">
            <a:solidFill>
              <a:srgbClr val="2D6A4F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7150608" y="3035808"/>
            <a:ext cx="1828800" cy="1188720"/>
          </a:xfrm>
          <a:prstGeom prst="rect">
            <a:avLst/>
          </a:prstGeom>
          <a:solidFill>
            <a:srgbClr val="1B4332"/>
          </a:solidFill>
          <a:ln w="12700">
            <a:solidFill>
              <a:srgbClr val="DDE5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7260336" y="310896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8A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Llama-3.1-8B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260336" y="3419856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free tier — JSON answer; citations validated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508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of the Game RAG Chatbot  · 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decisions — why, not just what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64008" cy="16002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 BM25 + expansion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4416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terminology-dense rulebook → exact terms carry the signal. Fully interpretable scores made our error analysis possible. Builds from JSON at cold start with no ML model to download.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64008" cy="16002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89204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Chunking: page-tagged, ~1100 chars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34416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≈ one rule subsection, so a single hit usually contains the full provision. Page tags give verifiable citations and coarse page-level labels for evaluation.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64008" cy="16002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Generation: Llama-3.1-8B on Groq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12724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paraphrases retrieved rule text well for this task; we did not benchmark larger models. Temperature 0; prompt forbids answering outside context and requires page citations.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4709160" y="2743200"/>
            <a:ext cx="64008" cy="16002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892040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Vercel serverless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12724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Python function + one HTML file. No DB, no vector store. Vercel Python functions allow up to 500 MB (official docs); ours is far smaller. The free-serverless target shaped the retrieval choice.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8508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of the Game RAG Chatbot  · 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Alternatives considered — and rejected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64008" cy="10789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 (sentence-transformers + vector DB)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paraphrase recall in principle. We did not benchmark a dense retriever; we chose against it for simplicity, interpretability, the small 267-chunk corpus, and the free serverless target — not because it 'cannot work'.</a:t>
            </a:r>
            <a:r>
              <a:rPr lang="en-US" sz="10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304288"/>
            <a:ext cx="8229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457200" y="2304288"/>
            <a:ext cx="64008" cy="10789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58368" y="23774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an LLM on the Laws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26517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Expensive; freezes knowledge to one edition of the rules; no citations, so answers are unverifiable.  </a:t>
            </a:r>
            <a:r>
              <a:rPr lang="en-US" sz="10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swaps in the 2026/27 edition by re-running one ingestion script.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511296"/>
            <a:ext cx="8229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57200" y="3511296"/>
            <a:ext cx="64008" cy="10789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58368" y="35844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generator model (70B)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" y="385876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generator was not prioritized: we focused evaluation effort on retrieval. Generator-size comparison remains future work.</a:t>
            </a:r>
            <a:r>
              <a:rPr lang="en-US" sz="10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8508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of the Game RAG Chatbot  · 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methodology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10896" cy="310896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70916" y="1110996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07899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set. 20 questions hand-labelled with the gold PDF page(s) (eval/eval_set.json, laws_dev_v1). Used to develop the expansion map → results are optimistic, not held-out. Page labels are coarse.</a:t>
            </a:r>
            <a:r>
              <a:rPr lang="en-US" sz="1250" dirty="0">
                <a:solidFill>
                  <a:srgbClr val="1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10896" cy="310896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70916" y="1842516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81051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Metrics. Page Hit Rate@k (hit@k) = any top-k chunk on a gold page — NOT IR recall. Plus page-level MRR@5 and unique-pages@5, with 95% Wilson CIs.</a:t>
            </a:r>
            <a:r>
              <a:rPr lang="en-US" sz="1250" dirty="0">
                <a:solidFill>
                  <a:srgbClr val="1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10896" cy="310896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70916" y="2574036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54203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compared. Production (expansion + page-dedup) · no-dedup · no-expansion ablation · TF-IDF baseline · random floor.</a:t>
            </a:r>
            <a:r>
              <a:rPr lang="en-US" sz="1250" dirty="0">
                <a:solidFill>
                  <a:srgbClr val="1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310896" cy="310896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70916" y="3305556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27355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Qualitative. Per-query error analysis; a human answer-level rubric (harness committed, scores pending) plus deterministic citation checks. Automated retrieval eval is kept separate from human review.</a:t>
            </a:r>
            <a:r>
              <a:rPr lang="en-US" sz="1250" dirty="0">
                <a:solidFill>
                  <a:srgbClr val="1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 offline:  </a:t>
            </a:r>
            <a:r>
              <a:rPr lang="en-US" sz="1200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eval/evaluate.py</a:t>
            </a:r>
            <a:r>
              <a:rPr lang="en-US" sz="1200" dirty="0">
                <a:solidFill>
                  <a:srgbClr val="1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(&lt;5 s, no API key needed)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8508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of the Game RAG Chatbot  · 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Page Hit Rate@5 = 0.75 (development set)</a:t>
            </a:r>
            <a:endParaRPr lang="en-US" sz="27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51560"/>
          <a:ext cx="576072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400800" y="1051560"/>
            <a:ext cx="2377440" cy="1371600"/>
          </a:xfrm>
          <a:prstGeom prst="rect">
            <a:avLst/>
          </a:prstGeom>
          <a:solidFill>
            <a:srgbClr val="1B433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2"/>
          <p:cNvSpPr/>
          <p:nvPr/>
        </p:nvSpPr>
        <p:spPr>
          <a:xfrm>
            <a:off x="6400800" y="1143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0.75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53796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Hit Rate@5 = 15/20 · development set · 95% Wilson CI [0.53, 0.89]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0" y="26974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query expansion adds +0.10 hit@5, no regressions.   TF-IDF trails BM25 (0.55 vs 0.75 hit@5).   n=20 is small — the CI is wide and not evidence of generalization.</a:t>
            </a:r>
            <a:r>
              <a:rPr lang="en-US" sz="1100" dirty="0">
                <a:solidFill>
                  <a:srgbClr val="1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4526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hit@1 = 0.05 — near the floor.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48508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of the Game RAG Chatbot  · 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analysis → fix → measured gain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methodology loop that produced our main improvement: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94360" y="1435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Measure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176479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BM25 (no expansion): hit@5 = 0.65. 7 misses on 20 queries.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87168" y="2167128"/>
            <a:ext cx="128016" cy="0"/>
          </a:xfrm>
          <a:prstGeom prst="line">
            <a:avLst/>
          </a:prstGeom>
          <a:noFill/>
          <a:ln w="31750">
            <a:solidFill>
              <a:srgbClr val="2D6A4F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2633472" y="132588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770632" y="1435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Diagnose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70632" y="176479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misses involve vocabulary mismatch (red card vs sending-off; how long vs duration) — but not all share one cause.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167128"/>
            <a:ext cx="128016" cy="0"/>
          </a:xfrm>
          <a:prstGeom prst="line">
            <a:avLst/>
          </a:prstGeom>
          <a:noFill/>
          <a:ln w="31750">
            <a:solidFill>
              <a:srgbClr val="2D6A4F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809744" y="132588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946904" y="1435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Fix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46904" y="176479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16-entry map: most entries glossary-derived, some motivated by dev-set error analysis (disclosed in rag/expansion.py).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39712" y="2167128"/>
            <a:ext cx="128016" cy="0"/>
          </a:xfrm>
          <a:prstGeom prst="line">
            <a:avLst/>
          </a:prstGeom>
          <a:noFill/>
          <a:ln w="31750">
            <a:solidFill>
              <a:srgbClr val="2D6A4F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986016" y="1325880"/>
            <a:ext cx="2011680" cy="1691640"/>
          </a:xfrm>
          <a:prstGeom prst="rect">
            <a:avLst/>
          </a:prstGeom>
          <a:solidFill>
            <a:srgbClr val="1B4332"/>
          </a:solidFill>
          <a:ln w="12700">
            <a:solidFill>
              <a:srgbClr val="DDE5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123176" y="1435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8A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Re-measure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23176" y="176479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hit@5 → 0.75. Two queries flip to hits; expansion fires without effect on others; no regressions (verified query by query).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5 misses — multiple causes (not a single cause):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categories: front-matter collision (yellow-card → Notes pages outrank Law 12); domain-adjacent confusion (extra-time → half-time page); low-information query (when is a goal scored); specific-provision dilution (GK position, wall distance). Page-dedup removes duplicate-page context waste. Index/heading fixes remain proposals.</a:t>
            </a:r>
            <a:r>
              <a:rPr lang="en-US" sz="1150" dirty="0">
                <a:solidFill>
                  <a:srgbClr val="1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8508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of the Game RAG Chatbot  · 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limitations &amp; next steps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64008" cy="1463040"/>
          </a:xfrm>
          <a:prstGeom prst="rect">
            <a:avLst/>
          </a:prstGeom>
          <a:solidFill>
            <a:srgbClr val="D8A5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set doubles as dev set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52704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gains are optimistic — we tuned on what we measure. Next: a held-out test set written by someone who hasn't seen the synonym map, double-annotated and frozen first.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114300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64008" cy="1463040"/>
          </a:xfrm>
          <a:prstGeom prst="rect">
            <a:avLst/>
          </a:prstGeom>
          <a:solidFill>
            <a:srgbClr val="D8A5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89204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20, self-labelled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92040" y="152704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sample; gold pages chosen by us. Next: grow the set, second annotator, agreement check.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64008" cy="1463040"/>
          </a:xfrm>
          <a:prstGeom prst="rect">
            <a:avLst/>
          </a:prstGeom>
          <a:solidFill>
            <a:srgbClr val="D8A5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Retrieval-only metrics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331012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whether the right page is retrieved, not answer correctness (page labels are coarse). Next: human rubric scoring (harness committed, scores pending); any LLM judge would be provisional only.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292608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64008" cy="1463040"/>
          </a:xfrm>
          <a:prstGeom prst="rect">
            <a:avLst/>
          </a:prstGeom>
          <a:solidFill>
            <a:srgbClr val="D8A51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892040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corpus &amp; language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92040" y="331012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English-only, one rulebook/edition. Adaptable to another corpus with domain-specific config — NOT corpus-agnostic (prompt &amp; expansion are football-specific). Also: model/provider dependency and corpus copyright/provenance.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8508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of the Game RAG Chatbot  · 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It works — real system outputs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4160520" cy="1143000"/>
          </a:xfrm>
          <a:prstGeom prst="rect">
            <a:avLst/>
          </a:prstGeom>
          <a:solidFill>
            <a:srgbClr val="F2F7F4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B4332"/>
                </a:solidFill>
              </a:rPr>
              <a:t>In-domain question · grounded</a:t>
            </a:r>
          </a:p>
          <a:p>
            <a:r>
              <a:rPr sz="1150">
                <a:solidFill>
                  <a:srgbClr val="5A6B62"/>
                </a:solidFill>
              </a:rPr>
              <a:t>“How long is the half-time interval?” → retrieves p.87 (real). Page 87 states the interval must not exceed 15 minutes; a grounded answer cites [p. 87].</a:t>
            </a:r>
          </a:p>
        </p:txBody>
      </p:sp>
      <p:sp>
        <p:nvSpPr>
          <p:cNvPr id="4" name="Rectangle 3"/>
          <p:cNvSpPr/>
          <p:nvPr/>
        </p:nvSpPr>
        <p:spPr>
          <a:xfrm>
            <a:off x="4617720" y="1051560"/>
            <a:ext cx="4160520" cy="1143000"/>
          </a:xfrm>
          <a:prstGeom prst="rect">
            <a:avLst/>
          </a:prstGeom>
          <a:solidFill>
            <a:srgbClr val="F2F7F4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B4332"/>
                </a:solidFill>
              </a:rPr>
              <a:t>Out-of-domain · refusal hides sources</a:t>
            </a:r>
          </a:p>
          <a:p>
            <a:r>
              <a:rPr sz="1150">
                <a:solidFill>
                  <a:srgbClr val="5A6B62"/>
                </a:solidFill>
              </a:rPr>
              <a:t>“Who won the 2022 World Cup?” → status out_of_scope, answer declines, and ZERO source badges are shown (refusals never display irrelevant pages).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423160"/>
            <a:ext cx="4160520" cy="1143000"/>
          </a:xfrm>
          <a:prstGeom prst="rect">
            <a:avLst/>
          </a:prstGeom>
          <a:solidFill>
            <a:srgbClr val="F2F7F4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B4332"/>
                </a:solidFill>
              </a:rPr>
              <a:t>Conversational follow-up fix</a:t>
            </a:r>
          </a:p>
          <a:p>
            <a:r>
              <a:rPr sz="1150">
                <a:solidFill>
                  <a:srgbClr val="5A6B62"/>
                </a:solidFill>
              </a:rPr>
              <a:t>After “What is the offside rule?”, the follow-up “What are the exceptions?” is rewritten for retrieval to “What are the exceptions? offside rule”, staying on topic.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4617720" y="2423160"/>
            <a:ext cx="4160520" cy="1143000"/>
          </a:xfrm>
          <a:prstGeom prst="rect">
            <a:avLst/>
          </a:prstGeom>
          <a:solidFill>
            <a:srgbClr val="F2F7F4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B4332"/>
                </a:solidFill>
              </a:rPr>
              <a:t>Citation validation</a:t>
            </a:r>
          </a:p>
          <a:p>
            <a:r>
              <a:rPr sz="1150">
                <a:solidFill>
                  <a:srgbClr val="5A6B62"/>
                </a:solidFill>
              </a:rPr>
              <a:t>Only pages the answer actually cites — and that were retrieved — become source badges; a cite to an un-retrieved page is dropped and the answer is flagged not-grounded.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A6B62"/>
                </a:solidFill>
              </a:rPr>
              <a:t>Retrieval, refusal and rewrite shown are actual outputs (no key needed). The generated answer text itself requires a Groq key and is not fabricated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7777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B62"/>
                </a:solidFill>
              </a:rPr>
              <a:t>Laws of the Game RAG Chatbot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Provenance, sources &amp; AI usage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4160520" cy="1143000"/>
          </a:xfrm>
          <a:prstGeom prst="rect">
            <a:avLst/>
          </a:prstGeom>
          <a:solidFill>
            <a:srgbClr val="F2F7F4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B4332"/>
                </a:solidFill>
              </a:rPr>
              <a:t>Corpus</a:t>
            </a:r>
          </a:p>
          <a:p>
            <a:r>
              <a:rPr sz="1150">
                <a:solidFill>
                  <a:srgbClr val="5A6B62"/>
                </a:solidFill>
              </a:rPr>
              <a:t>Laws of the Game 2025/26 (single pages), © IFAB/FIFA — not authored by us, no reproduction permission obtained. chunks.json is a derived research artifact; the PDF is not committed. See data/source_metadata.json.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617720" y="1051560"/>
            <a:ext cx="4160520" cy="1143000"/>
          </a:xfrm>
          <a:prstGeom prst="rect">
            <a:avLst/>
          </a:prstGeom>
          <a:solidFill>
            <a:srgbClr val="F2F7F4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B4332"/>
                </a:solidFill>
              </a:rPr>
              <a:t>Reproducibility</a:t>
            </a:r>
          </a:p>
          <a:p>
            <a:r>
              <a:rPr sz="1150">
                <a:solidFill>
                  <a:srgbClr val="5A6B62"/>
                </a:solidFill>
              </a:rPr>
              <a:t>Offline (no key): tests, retrieval eval, regression check. Needs Groq key: generation. Needs the PDF: regenerating the corpus. Tested on Python 3.10 &amp; 3.12 in CI.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423160"/>
            <a:ext cx="4160520" cy="1143000"/>
          </a:xfrm>
          <a:prstGeom prst="rect">
            <a:avLst/>
          </a:prstGeom>
          <a:solidFill>
            <a:srgbClr val="F2F7F4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B4332"/>
                </a:solidFill>
              </a:rPr>
              <a:t>Links</a:t>
            </a:r>
          </a:p>
          <a:p>
            <a:r>
              <a:rPr sz="1150">
                <a:solidFill>
                  <a:srgbClr val="5A6B62"/>
                </a:solidFill>
              </a:rPr>
              <a:t>Demo: fifa-rag.vercel.app · Repo: github.com/harish885/fifa-rag-chatbot · Vercel limits &amp; Groq model docs cited in README.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617720" y="2423160"/>
            <a:ext cx="4160520" cy="1143000"/>
          </a:xfrm>
          <a:prstGeom prst="rect">
            <a:avLst/>
          </a:prstGeom>
          <a:solidFill>
            <a:srgbClr val="F2F7F4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B4332"/>
                </a:solidFill>
              </a:rPr>
              <a:t>AI usage</a:t>
            </a:r>
          </a:p>
          <a:p>
            <a:r>
              <a:rPr sz="1150">
                <a:solidFill>
                  <a:srgbClr val="5A6B62"/>
                </a:solidFill>
              </a:rPr>
              <a:t>Built with Claude (code, hardening, drafting). Problem framing, evaluation design, interpretation and all human labelling are ours. Human answer-scoring &amp; held-out labelling are outstanding. Full disclosure in README: AI usage.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7777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B62"/>
                </a:solidFill>
              </a:rPr>
              <a:t>Laws of the Game RAG Chatbot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0120"/>
            <a:ext cx="9144000" cy="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constraint-driven design: the free serverless target shaped a lexical-first retrieval choice; the development-set evaluation is consistent with it (not a held-out validation). The register gap (colloquial vs legal football language) is the corpus's core difficulty, and query expansion measurably helps. Answers cite pages you can verify; retrieval evaluation does not prove answer correctness — human answer scoring is still to come.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D8A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fifa-rag.vercel.app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r>
              <a:rPr lang="en-US" sz="1300" b="1" dirty="0">
                <a:solidFill>
                  <a:srgbClr val="D8A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</a:t>
            </a:r>
            <a:r>
              <a:rPr lang="it-IT" sz="1400" dirty="0">
                <a:solidFill>
                  <a:schemeClr val="bg1"/>
                </a:solidFill>
              </a:rPr>
              <a:t>github.com/harish885/fifa-rag-chatbot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4343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usage: built with assistance from Claude (code, hardening, drafting) — problem framing, evaluation design, interpretation, and all human labelling are ours. Full disclosure in README: AI usage.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1312</Words>
  <Application>Microsoft Office PowerPoint</Application>
  <PresentationFormat>Presentazione su schermo (16:9)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Laws of the Game RAG Chatbot</dc:title>
  <dc:subject>PptxGenJS Presentation</dc:subject>
  <dc:creator>Harish Bhavandla</dc:creator>
  <cp:lastModifiedBy>Virginia Spolaore</cp:lastModifiedBy>
  <cp:revision>2</cp:revision>
  <dcterms:created xsi:type="dcterms:W3CDTF">2026-06-12T11:02:12Z</dcterms:created>
  <dcterms:modified xsi:type="dcterms:W3CDTF">2026-06-13T16:38:01Z</dcterms:modified>
</cp:coreProperties>
</file>